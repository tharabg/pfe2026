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88952" cy="6400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TOPNET OCR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Système Intelligent d'OCR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BEAFE"/>
                </a:solidFill>
                <a:latin typeface="Calibri"/>
              </a:rPr>
              <a:t>et de Détection de Fraude Documentaire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76272"/>
            <a:ext cx="4114800" cy="4572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7498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 b="1">
                <a:solidFill>
                  <a:srgbClr val="334E7A"/>
                </a:solidFill>
                <a:latin typeface="Calibri"/>
              </a:rPr>
              <a:t>Stagiaire : Ben Ghorbel Thara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334E7A"/>
                </a:solidFill>
                <a:latin typeface="Calibri"/>
              </a:rPr>
              <a:t>Établissement : FST — Université de Tunis El Manar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334E7A"/>
                </a:solidFill>
                <a:latin typeface="Calibri"/>
              </a:rPr>
              <a:t>Entreprise : TOPNET Tunisia  |  Stage PFE 6 mois  |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3154680"/>
            <a:ext cx="3474720" cy="26060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0" y="3154680"/>
            <a:ext cx="3474720" cy="384048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31821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Métriques validées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630168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b="0">
                <a:solidFill>
                  <a:srgbClr val="334E7A"/>
                </a:solidFill>
                <a:latin typeface="Calibri"/>
              </a:rPr>
              <a:t>✅  Accuracy       85.7%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4E7A"/>
                </a:solidFill>
                <a:latin typeface="Calibri"/>
              </a:rPr>
              <a:t>✅  Precision     100.0%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4E7A"/>
                </a:solidFill>
                <a:latin typeface="Calibri"/>
              </a:rPr>
              <a:t>✅  F1-score       85.7%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16A34A"/>
                </a:solidFill>
                <a:latin typeface="Calibri"/>
              </a:rPr>
              <a:t>✅  Faux positifs    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AFE"/>
                </a:solidFill>
                <a:latin typeface="Calibri"/>
              </a:rPr>
              <a:t>Ben Ghorbel Thara — PFE TOPNET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9500"/>
                </a:solidFill>
                <a:latin typeface="Calibri"/>
              </a:rPr>
              <a:t>TOPNET OCR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Plan de la présentation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02920" cy="64008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417320"/>
            <a:ext cx="5394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569E"/>
                </a:solidFill>
                <a:latin typeface="Calibri"/>
              </a:rPr>
              <a:t>Présentation de l'entreprise TOPNET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502920" cy="64008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231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331720"/>
            <a:ext cx="5394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46887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569E"/>
                </a:solidFill>
                <a:latin typeface="Calibri"/>
              </a:rPr>
              <a:t>Contexte &amp; Problématique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46120"/>
            <a:ext cx="502920" cy="64008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337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246120"/>
            <a:ext cx="5394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38327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569E"/>
                </a:solidFill>
                <a:latin typeface="Calibri"/>
              </a:rPr>
              <a:t>Solution proposée &amp; Valeur ajoutée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60520"/>
            <a:ext cx="502920" cy="64008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25195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4160520"/>
            <a:ext cx="5394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2976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569E"/>
                </a:solidFill>
                <a:latin typeface="Calibri"/>
              </a:rPr>
              <a:t>Méthodologie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074920"/>
            <a:ext cx="502920" cy="64008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16635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5074920"/>
            <a:ext cx="5394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212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569E"/>
                </a:solidFill>
                <a:latin typeface="Calibri"/>
              </a:rPr>
              <a:t>Besoins fonctionnels &amp; non fonctionnels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417320"/>
            <a:ext cx="502920" cy="64008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5087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80" y="1417320"/>
            <a:ext cx="5394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1554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569E"/>
                </a:solidFill>
                <a:latin typeface="Calibri"/>
              </a:rPr>
              <a:t>Choix technologiques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331720"/>
            <a:ext cx="502920" cy="64008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24231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12280" y="2331720"/>
            <a:ext cx="5394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246887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569E"/>
                </a:solidFill>
                <a:latin typeface="Calibri"/>
              </a:rPr>
              <a:t>Architecture de la solution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246120"/>
            <a:ext cx="502920" cy="64008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337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12280" y="3246120"/>
            <a:ext cx="5394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0" y="338327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569E"/>
                </a:solidFill>
                <a:latin typeface="Calibri"/>
              </a:rPr>
              <a:t>Avancement du projet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160520"/>
            <a:ext cx="502920" cy="64008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425195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12280" y="4160520"/>
            <a:ext cx="53949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0" y="42976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569E"/>
                </a:solidFill>
                <a:latin typeface="Calibri"/>
              </a:rPr>
              <a:t>Conclusion &amp; Perspectives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AFE"/>
                </a:solidFill>
                <a:latin typeface="Calibri"/>
              </a:rPr>
              <a:t>Ben Ghorbel Thara — PFE TOPNET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9500"/>
                </a:solidFill>
                <a:latin typeface="Calibri"/>
              </a:rPr>
              <a:t>TOPNET OCR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Présentation de l'entreprise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500"/>
                </a:solidFill>
                <a:latin typeface="Calibri"/>
              </a:rPr>
              <a:t>TOPNET Tunisia — Premier FAI privé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03520" cy="4800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303520" cy="45720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TOPNET en chiffres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b="0">
                <a:solidFill>
                  <a:srgbClr val="334E7A"/>
                </a:solidFill>
                <a:latin typeface="Calibri"/>
              </a:rPr>
              <a:t>🏢  Fondée en 1999 — 25+ ans d'activité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4E7A"/>
                </a:solidFill>
                <a:latin typeface="Calibri"/>
              </a:rPr>
              <a:t>📍  Siège : Tunis | Présence nationale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1A569E"/>
                </a:solidFill>
                <a:latin typeface="Calibri"/>
              </a:rPr>
              <a:t>🌐  Premier FAI privé de Tunisie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4E7A"/>
                </a:solidFill>
                <a:latin typeface="Calibri"/>
              </a:rPr>
              <a:t>📶  Services : ADSL · FIBRE · 4G/5G · BOX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4E7A"/>
                </a:solidFill>
                <a:latin typeface="Calibri"/>
              </a:rPr>
              <a:t>👥  Milliers de clients abonnés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4E7A"/>
                </a:solidFill>
                <a:latin typeface="Calibri"/>
              </a:rPr>
              <a:t>📄  Docs traités/jour : CIN, Passeports,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334E7A"/>
                </a:solidFill>
                <a:latin typeface="Calibri"/>
              </a:rPr>
              <a:t>     Factures, Contrats d'abonnement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17320"/>
            <a:ext cx="566928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17320"/>
            <a:ext cx="5669280" cy="45720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4447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Situation actuelle — Traitement 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96596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50" b="1">
                <a:solidFill>
                  <a:srgbClr val="DC2626"/>
                </a:solidFill>
                <a:latin typeface="Calibri"/>
              </a:rPr>
              <a:t>❌  Traitement 100% manuel</a:t>
            </a:r>
          </a:p>
          <a:p>
            <a:pPr>
              <a:spcBef>
                <a:spcPts val="200"/>
              </a:spcBef>
            </a:pPr>
            <a:r>
              <a:rPr sz="1250" b="0">
                <a:solidFill>
                  <a:srgbClr val="334E7A"/>
                </a:solidFill>
                <a:latin typeface="Calibri"/>
              </a:rPr>
              <a:t>     → 5 à 10 min par document</a:t>
            </a:r>
          </a:p>
          <a:p>
            <a:pPr>
              <a:spcBef>
                <a:spcPts val="200"/>
              </a:spcBef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1250" b="1">
                <a:solidFill>
                  <a:srgbClr val="DC2626"/>
                </a:solidFill>
                <a:latin typeface="Calibri"/>
              </a:rPr>
              <a:t>❌  Aucune détection de fraude auto.</a:t>
            </a:r>
          </a:p>
          <a:p>
            <a:pPr>
              <a:spcBef>
                <a:spcPts val="200"/>
              </a:spcBef>
            </a:pPr>
            <a:r>
              <a:rPr sz="1250" b="0">
                <a:solidFill>
                  <a:srgbClr val="334E7A"/>
                </a:solidFill>
                <a:latin typeface="Calibri"/>
              </a:rPr>
              <a:t>     → Documents falsifiés non détectés</a:t>
            </a:r>
          </a:p>
          <a:p>
            <a:pPr>
              <a:spcBef>
                <a:spcPts val="200"/>
              </a:spcBef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1250" b="1">
                <a:solidFill>
                  <a:srgbClr val="DC2626"/>
                </a:solidFill>
                <a:latin typeface="Calibri"/>
              </a:rPr>
              <a:t>❌  Zéro traçabilité centralisée</a:t>
            </a:r>
          </a:p>
          <a:p>
            <a:pPr>
              <a:spcBef>
                <a:spcPts val="200"/>
              </a:spcBef>
            </a:pPr>
            <a:r>
              <a:rPr sz="1250" b="0">
                <a:solidFill>
                  <a:srgbClr val="334E7A"/>
                </a:solidFill>
                <a:latin typeface="Calibri"/>
              </a:rPr>
              <a:t>     → Impossible d'analyser les données</a:t>
            </a:r>
          </a:p>
          <a:p>
            <a:pPr>
              <a:spcBef>
                <a:spcPts val="200"/>
              </a:spcBef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1250" b="1">
                <a:solidFill>
                  <a:srgbClr val="1A569E"/>
                </a:solidFill>
                <a:latin typeface="Calibri"/>
              </a:rPr>
              <a:t>💡  Besoin : automatiser, sécuriser,</a:t>
            </a:r>
          </a:p>
          <a:p>
            <a:pPr>
              <a:spcBef>
                <a:spcPts val="200"/>
              </a:spcBef>
            </a:pPr>
            <a:r>
              <a:rPr sz="1250" b="1">
                <a:solidFill>
                  <a:srgbClr val="1A569E"/>
                </a:solidFill>
                <a:latin typeface="Calibri"/>
              </a:rPr>
              <a:t>     analyser les données documents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AFE"/>
                </a:solidFill>
                <a:latin typeface="Calibri"/>
              </a:rPr>
              <a:t>Ben Ghorbel Thara — PFE TOPNET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9500"/>
                </a:solidFill>
                <a:latin typeface="Calibri"/>
              </a:rPr>
              <a:t>TOPNET OCR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Solution proposée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500"/>
                </a:solidFill>
                <a:latin typeface="Calibri"/>
              </a:rPr>
              <a:t>TOPNET OCR — Pipeline IA local 7 étapes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2743200" cy="29260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2743200" cy="50292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44475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69E"/>
                </a:solidFill>
                <a:latin typeface="Calibri"/>
              </a:rPr>
              <a:t>🔍  Détection Fraude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01168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ELA (analyse pixels)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VLM forensique Qwen2.5vl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Score combiné par type doc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417320"/>
            <a:ext cx="2743200" cy="29260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18688" y="1417320"/>
            <a:ext cx="2743200" cy="50292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144475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69E"/>
                </a:solidFill>
                <a:latin typeface="Calibri"/>
              </a:rPr>
              <a:t>🏷️  Classification Auto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01168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CLIP + VLM + Règles OCR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4 types reconnus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Fusion pondérée triple couche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17336" y="1417320"/>
            <a:ext cx="2743200" cy="29260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17336" y="1417320"/>
            <a:ext cx="2743200" cy="50292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8775" y="144475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69E"/>
                </a:solidFill>
                <a:latin typeface="Calibri"/>
              </a:rPr>
              <a:t>📋  Extraction OCR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5" y="201168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PaddleOCR + EasyOCR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Champs bilingues AR/FR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Validation métier TOPNET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15984" y="1417320"/>
            <a:ext cx="2743200" cy="29260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15984" y="1417320"/>
            <a:ext cx="2743200" cy="50292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144475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69E"/>
                </a:solidFill>
                <a:latin typeface="Calibri"/>
              </a:rPr>
              <a:t>🌐  Interface Web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201168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Angular 21 — 2 rôles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Upload · Résultats · Historique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Design TOPNET professionnel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526280"/>
            <a:ext cx="11548872" cy="14173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526280"/>
            <a:ext cx="11548872" cy="41148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544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  <a:latin typeface="Calibri"/>
              </a:rPr>
              <a:t>Métriques validées sur jeu de test (7 documents)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983480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Accuracy
85.7%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983480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Precision
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9" y="4983480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500"/>
                </a:solidFill>
                <a:latin typeface="Calibri"/>
              </a:rPr>
              <a:t>Recall
75%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199" y="4983480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F1-score
85.7%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9" y="4983480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Faux positifs
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4983480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500"/>
                </a:solidFill>
                <a:latin typeface="Calibri"/>
              </a:rPr>
              <a:t>Temps moy.
121s (CPU)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AFE"/>
                </a:solidFill>
                <a:latin typeface="Calibri"/>
              </a:rPr>
              <a:t>Ben Ghorbel Thara — PFE TOPNET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9500"/>
                </a:solidFill>
                <a:latin typeface="Calibri"/>
              </a:rPr>
              <a:t>TOPNET OCR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Choix technologiques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500"/>
                </a:solidFill>
                <a:latin typeface="Calibri"/>
              </a:rPr>
              <a:t>Stack 100% local — Justifié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27432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2743200" cy="347472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  <a:latin typeface="Calibri"/>
              </a:rP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8013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69E"/>
                </a:solidFill>
                <a:latin typeface="Calibri"/>
              </a:rPr>
              <a:t>Backend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13055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E7A"/>
                </a:solidFill>
                <a:latin typeface="Calibri"/>
              </a:rPr>
              <a:t>Async, doc auto Swagger, performant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417320"/>
            <a:ext cx="27432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18688" y="1417320"/>
            <a:ext cx="2743200" cy="347472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  <a:latin typeface="Calibri"/>
              </a:rPr>
              <a:t>Qwen2.5vl:7b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8013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69E"/>
                </a:solidFill>
                <a:latin typeface="Calibri"/>
              </a:rPr>
              <a:t>VLM 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213055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E7A"/>
                </a:solidFill>
                <a:latin typeface="Calibri"/>
              </a:rPr>
              <a:t>Local, arabe+français, open-source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7336" y="1417320"/>
            <a:ext cx="27432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417320"/>
            <a:ext cx="2743200" cy="347472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8775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  <a:latin typeface="Calibri"/>
              </a:rPr>
              <a:t>CLIP ViT-Large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5" y="18013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69E"/>
                </a:solidFill>
                <a:latin typeface="Calibri"/>
              </a:rPr>
              <a:t>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5" y="213055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E7A"/>
                </a:solidFill>
                <a:latin typeface="Calibri"/>
              </a:rPr>
              <a:t>Zero-shot, 0 réentraînement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15984" y="1417320"/>
            <a:ext cx="27432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15984" y="1417320"/>
            <a:ext cx="2743200" cy="347472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7424" y="1453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  <a:latin typeface="Calibri"/>
              </a:rPr>
              <a:t>PaddleOCR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18013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69E"/>
                </a:solidFill>
                <a:latin typeface="Calibri"/>
              </a:rPr>
              <a:t>OCR arabe/fr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7424" y="213055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E7A"/>
                </a:solidFill>
                <a:latin typeface="Calibri"/>
              </a:rPr>
              <a:t>Meilleur modèle open-source 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657600"/>
            <a:ext cx="27432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657600"/>
            <a:ext cx="2743200" cy="347472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36941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  <a:latin typeface="Calibri"/>
              </a:rPr>
              <a:t>ELA + VLM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0416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69E"/>
                </a:solidFill>
                <a:latin typeface="Calibri"/>
              </a:rPr>
              <a:t>Détection fraude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437083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E7A"/>
                </a:solidFill>
                <a:latin typeface="Calibri"/>
              </a:rPr>
              <a:t>Analyse pixel + forensique visuel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657600"/>
            <a:ext cx="27432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18688" y="3657600"/>
            <a:ext cx="2743200" cy="347472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36941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  <a:latin typeface="Calibri"/>
              </a:rPr>
              <a:t>Angular 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0128" y="40416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69E"/>
                </a:solidFill>
                <a:latin typeface="Calibri"/>
              </a:rPr>
              <a:t>Frontend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0128" y="437083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E7A"/>
                </a:solidFill>
                <a:latin typeface="Calibri"/>
              </a:rPr>
              <a:t>Enterprise-grade, maintenable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17336" y="3657600"/>
            <a:ext cx="27432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17336" y="3657600"/>
            <a:ext cx="2743200" cy="347472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08775" y="36941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  <a:latin typeface="Calibri"/>
              </a:rPr>
              <a:t>PostgreSQL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08775" y="40416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69E"/>
                </a:solidFill>
                <a:latin typeface="Calibri"/>
              </a:rPr>
              <a:t>Base de données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08775" y="437083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E7A"/>
                </a:solidFill>
                <a:latin typeface="Calibri"/>
              </a:rPr>
              <a:t>Prêt ETL + dashboards Power BI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15984" y="3657600"/>
            <a:ext cx="274320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15984" y="3657600"/>
            <a:ext cx="2743200" cy="347472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07424" y="36941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  <a:latin typeface="Calibri"/>
              </a:rPr>
              <a:t>Ollama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07424" y="40416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69E"/>
                </a:solidFill>
                <a:latin typeface="Calibri"/>
              </a:rPr>
              <a:t>Runtime VLM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07424" y="437083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E7A"/>
                </a:solidFill>
                <a:latin typeface="Calibri"/>
              </a:rPr>
              <a:t>Local, GPU/CPU, modèles interchangeables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AFE"/>
                </a:solidFill>
                <a:latin typeface="Calibri"/>
              </a:rPr>
              <a:t>Ben Ghorbel Thara — PFE TOPNET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9500"/>
                </a:solidFill>
                <a:latin typeface="Calibri"/>
              </a:rPr>
              <a:t>TOPNET OCR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Architecture — Pipeline IA 7 étapes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417320"/>
            <a:ext cx="1508760" cy="44805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417320"/>
            <a:ext cx="1508760" cy="45720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435608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69E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1965960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9500"/>
                </a:solidFill>
                <a:latin typeface="Calibri"/>
              </a:rPr>
              <a:t>Détection Fraude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633472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BEAFE"/>
                </a:solidFill>
                <a:latin typeface="Calibri"/>
              </a:rPr>
              <a:t>ELA + VLM forensique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3383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500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1417320"/>
            <a:ext cx="1508760" cy="44805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0" y="1417320"/>
            <a:ext cx="150876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1435608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69E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1965960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38BDF8"/>
                </a:solidFill>
                <a:latin typeface="Calibri"/>
              </a:rPr>
              <a:t>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633472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BEAFE"/>
                </a:solidFill>
                <a:latin typeface="Calibri"/>
              </a:rPr>
              <a:t>CLIP + VLM + Règles OCR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383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500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5888" y="1417320"/>
            <a:ext cx="1508760" cy="44805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75888" y="1417320"/>
            <a:ext cx="1508760" cy="457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8" y="1435608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69E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1608" y="1965960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A78BFA"/>
                </a:solidFill>
                <a:latin typeface="Calibri"/>
              </a:rPr>
              <a:t>OCR Multi-moteur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1608" y="2633472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BEAFE"/>
                </a:solidFill>
                <a:latin typeface="Calibri"/>
              </a:rPr>
              <a:t>PaddleOCR + EasyOCR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3383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500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0096" y="1417320"/>
            <a:ext cx="1508760" cy="44805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40096" y="1417320"/>
            <a:ext cx="150876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0096" y="1435608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69E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85816" y="1965960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34D399"/>
                </a:solidFill>
                <a:latin typeface="Calibri"/>
              </a:rPr>
              <a:t>Extraction Champs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85816" y="2633472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BEAFE"/>
                </a:solidFill>
                <a:latin typeface="Calibri"/>
              </a:rPr>
              <a:t>VLM spécialisé + Regex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57416" y="3383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500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04304" y="1417320"/>
            <a:ext cx="1508760" cy="44805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04304" y="1417320"/>
            <a:ext cx="1508760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04304" y="1435608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69E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0024" y="1965960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BBF24"/>
                </a:solidFill>
                <a:latin typeface="Calibri"/>
              </a:rPr>
              <a:t>Validation Métier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0024" y="2633472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BEAFE"/>
                </a:solidFill>
                <a:latin typeface="Calibri"/>
              </a:rPr>
              <a:t>Règles domaine TOPNET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1624" y="3383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500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68512" y="1417320"/>
            <a:ext cx="1508760" cy="44805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68512" y="1417320"/>
            <a:ext cx="1508760" cy="457200"/>
          </a:xfrm>
          <a:prstGeom prst="rect">
            <a:avLst/>
          </a:prstGeom>
          <a:solidFill>
            <a:srgbClr val="F4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68512" y="1435608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69E"/>
                </a:solidFill>
                <a:latin typeface="Calibr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14232" y="1965960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47272"/>
                </a:solidFill>
                <a:latin typeface="Calibri"/>
              </a:rPr>
              <a:t>Translitération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14232" y="2633472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BEAFE"/>
                </a:solidFill>
                <a:latin typeface="Calibri"/>
              </a:rPr>
              <a:t>Arabe ↔ Français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85832" y="3383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500"/>
                </a:solidFill>
                <a:latin typeface="Calibri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32720" y="1417320"/>
            <a:ext cx="1508760" cy="44805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332720" y="1417320"/>
            <a:ext cx="150876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32720" y="1435608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569E"/>
                </a:solidFill>
                <a:latin typeface="Calibri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78440" y="1965960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6A34A"/>
                </a:solidFill>
                <a:latin typeface="Calibri"/>
              </a:rPr>
              <a:t>Décision + BDD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78440" y="2633472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BEAFE"/>
                </a:solidFill>
                <a:latin typeface="Calibri"/>
              </a:rPr>
              <a:t>ACCEPTÉ / REJETÉ / RÉVISER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" y="6035040"/>
            <a:ext cx="11494008" cy="411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0533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Calibri"/>
              </a:rPr>
              <a:t>✅ ACCEPTÉ  —  document authentique + champs extraits en FR/AR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605332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❌ REJETÉ  —  fraude / type inconnu / données incohérentes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AFE"/>
                </a:solidFill>
                <a:latin typeface="Calibri"/>
              </a:rPr>
              <a:t>Ben Ghorbel Thara — PFE TOPNET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9500"/>
                </a:solidFill>
                <a:latin typeface="Calibri"/>
              </a:rPr>
              <a:t>TOPNET OCR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Avancement — Phase 1 réalisée 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500"/>
                </a:solidFill>
                <a:latin typeface="Calibri"/>
              </a:rPr>
              <a:t>100% fonctionnel et validé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704088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704088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✅  Ce qui est réalisé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569E"/>
                </a:solidFill>
                <a:latin typeface="Calibri"/>
              </a:rPr>
              <a:t>✓  Pipeline IA complet 7 étapes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67712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569E"/>
                </a:solidFill>
                <a:latin typeface="Calibri"/>
              </a:rPr>
              <a:t>✓  Détection fraude (ELA + VLM forensique)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15184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569E"/>
                </a:solidFill>
                <a:latin typeface="Calibri"/>
              </a:rPr>
              <a:t>✓  Classification triple couche (CLIP + VLM + OCR)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62656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569E"/>
                </a:solidFill>
                <a:latin typeface="Calibri"/>
              </a:rPr>
              <a:t>✓  OCR bilingue arabe/français (PaddleOCR)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10128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569E"/>
                </a:solidFill>
                <a:latin typeface="Calibri"/>
              </a:rPr>
              <a:t>✓  Extraction structurée par type de document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569E"/>
                </a:solidFill>
                <a:latin typeface="Calibri"/>
              </a:rPr>
              <a:t>✓  Validation métier TOPNET (CIN/Passeport/Facture/Contrat)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05072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569E"/>
                </a:solidFill>
                <a:latin typeface="Calibri"/>
              </a:rPr>
              <a:t>✓  Translitération arabe ↔ français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52544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569E"/>
                </a:solidFill>
                <a:latin typeface="Calibri"/>
              </a:rPr>
              <a:t>✓  Interface Angular 21 complète (upload, résultats, historique)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00016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569E"/>
                </a:solidFill>
                <a:latin typeface="Calibri"/>
              </a:rPr>
              <a:t>✓  Authentification JWT (agent + admin)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47488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569E"/>
                </a:solidFill>
                <a:latin typeface="Calibri"/>
              </a:rPr>
              <a:t>✓  Script évaluation académique (Precision/Recall/F1/Confusion)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94960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569E"/>
                </a:solidFill>
                <a:latin typeface="Calibri"/>
              </a:rPr>
              <a:t>✓  Données synthétiques générées (passeports + contrats)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42431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569E"/>
                </a:solidFill>
                <a:latin typeface="Calibri"/>
              </a:rPr>
              <a:t>✓  Git — état stable sauvegardé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1417320"/>
            <a:ext cx="425196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1417320"/>
            <a:ext cx="4251960" cy="41148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144475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🔄  Ce qui reste (Phase 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1920240"/>
            <a:ext cx="4069080" cy="50292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199339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569E"/>
                </a:solidFill>
                <a:latin typeface="Calibri"/>
              </a:rPr>
              <a:t>Migration SQLite → PostgreSQL 16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2514600"/>
            <a:ext cx="4069080" cy="50292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258775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569E"/>
                </a:solidFill>
                <a:latin typeface="Calibri"/>
              </a:rPr>
              <a:t>Pipeline ETL + tables structurées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3108960"/>
            <a:ext cx="4069080" cy="50292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318211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569E"/>
                </a:solidFill>
                <a:latin typeface="Calibri"/>
              </a:rPr>
              <a:t>Dashboards Power BI connectés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3703320"/>
            <a:ext cx="4069080" cy="50292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377647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569E"/>
                </a:solidFill>
                <a:latin typeface="Calibri"/>
              </a:rPr>
              <a:t>Fine-tuning CLIP sur MIDV-500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4297680"/>
            <a:ext cx="4069080" cy="50292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8120" y="437083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569E"/>
                </a:solidFill>
                <a:latin typeface="Calibri"/>
              </a:rPr>
              <a:t>Containerisation Docker + GPU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AFE"/>
                </a:solidFill>
                <a:latin typeface="Calibri"/>
              </a:rPr>
              <a:t>Ben Ghorbel Thara — PFE TOPNET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9500"/>
                </a:solidFill>
                <a:latin typeface="Calibri"/>
              </a:rPr>
              <a:t>TOPNET OCR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Résultats &amp; Métriques académiques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500"/>
                </a:solidFill>
                <a:latin typeface="Calibri"/>
              </a:rPr>
              <a:t>Évaluation sur 7 documents de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880360" cy="38404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4475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69E"/>
                </a:solidFill>
                <a:latin typeface="Calibri"/>
              </a:rPr>
              <a:t>Document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417320"/>
            <a:ext cx="1234439" cy="38404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444752"/>
            <a:ext cx="1188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69E"/>
                </a:solidFill>
                <a:latin typeface="Calibri"/>
              </a:rPr>
              <a:t>Décision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417320"/>
            <a:ext cx="1417320" cy="38404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44475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69E"/>
                </a:solidFill>
                <a:latin typeface="Calibri"/>
              </a:rPr>
              <a:t>Type détecté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417320"/>
            <a:ext cx="1143000" cy="38404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1444752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69E"/>
                </a:solidFill>
                <a:latin typeface="Calibri"/>
              </a:rPr>
              <a:t>Confiance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1417320"/>
            <a:ext cx="1051560" cy="38404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1444752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69E"/>
                </a:solidFill>
                <a:latin typeface="Calibri"/>
              </a:rPr>
              <a:t>Fraude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417320"/>
            <a:ext cx="1325880" cy="38404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44475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69E"/>
                </a:solidFill>
                <a:latin typeface="Calibri"/>
              </a:rPr>
              <a:t>Résultat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874519"/>
            <a:ext cx="288036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cin_reel.jpg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1874519"/>
            <a:ext cx="1234439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1920240"/>
            <a:ext cx="1188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ACCEPTÉ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1874519"/>
            <a:ext cx="141732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1920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CIN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1874519"/>
            <a:ext cx="114300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9320" y="19202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38%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1874519"/>
            <a:ext cx="105156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1920240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26%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874519"/>
            <a:ext cx="132588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1920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6A34A"/>
                </a:solidFill>
                <a:latin typeface="Calibri"/>
              </a:rPr>
              <a:t>✅ Correct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441448"/>
            <a:ext cx="288036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248716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cin_2_rectofake.png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2441448"/>
            <a:ext cx="1234439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6120" y="2487168"/>
            <a:ext cx="1188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C2626"/>
                </a:solidFill>
                <a:latin typeface="Calibri"/>
              </a:rPr>
              <a:t>REJETÉ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2441448"/>
            <a:ext cx="141732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24871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CIN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2441448"/>
            <a:ext cx="114300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89320" y="248716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66%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2441448"/>
            <a:ext cx="105156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78040" y="2487168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56%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2441448"/>
            <a:ext cx="132588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248716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6A34A"/>
                </a:solidFill>
                <a:latin typeface="Calibri"/>
              </a:rPr>
              <a:t>✅ Correct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008376"/>
            <a:ext cx="288036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305409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cin_fake.jpeg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3008376"/>
            <a:ext cx="1234439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46120" y="3054096"/>
            <a:ext cx="1188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C2626"/>
                </a:solidFill>
                <a:latin typeface="Calibri"/>
              </a:rPr>
              <a:t>REJETÉ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80560" y="3008376"/>
            <a:ext cx="141732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26280" y="305409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UNKNOWN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3008376"/>
            <a:ext cx="114300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89320" y="305409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2320" y="3008376"/>
            <a:ext cx="105156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78040" y="3054096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28%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0" y="3008376"/>
            <a:ext cx="132588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75320" y="305409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6A34A"/>
                </a:solidFill>
                <a:latin typeface="Calibri"/>
              </a:rPr>
              <a:t>✅ Correct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575303"/>
            <a:ext cx="288036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362102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contrat_reel.png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0" y="3575303"/>
            <a:ext cx="1234439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46120" y="3621024"/>
            <a:ext cx="1188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ACCEPTÉ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80560" y="3575303"/>
            <a:ext cx="141732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26280" y="362102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CONTRAT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43600" y="3575303"/>
            <a:ext cx="114300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89320" y="3621024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0" y="3575303"/>
            <a:ext cx="105156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78040" y="3621024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28%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9600" y="3575303"/>
            <a:ext cx="132588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75320" y="362102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6A34A"/>
                </a:solidFill>
                <a:latin typeface="Calibri"/>
              </a:rPr>
              <a:t>✅ Correct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142231"/>
            <a:ext cx="288036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" y="418795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contract_4G_5G_fake.png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0" y="4142231"/>
            <a:ext cx="1234439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46120" y="4187952"/>
            <a:ext cx="1188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ACCEPTÉ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80560" y="4142231"/>
            <a:ext cx="141732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26280" y="41879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CONTRAT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43600" y="4142231"/>
            <a:ext cx="114300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89320" y="418795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70%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132320" y="4142231"/>
            <a:ext cx="105156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78040" y="4187952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24%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29600" y="4142231"/>
            <a:ext cx="132588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75320" y="418795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9500"/>
                </a:solidFill>
                <a:latin typeface="Calibri"/>
              </a:rPr>
              <a:t>⚠️ Limite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4709160"/>
            <a:ext cx="288036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4754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facture_real.png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00400" y="4709160"/>
            <a:ext cx="1234439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46120" y="4754880"/>
            <a:ext cx="1188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ACCEPTÉ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480560" y="4709160"/>
            <a:ext cx="141732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26280" y="4754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FACTURE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43600" y="4709160"/>
            <a:ext cx="114300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89320" y="4754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69%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132320" y="4709160"/>
            <a:ext cx="105156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178040" y="4754880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24%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229600" y="4709160"/>
            <a:ext cx="132588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75320" y="47548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6A34A"/>
                </a:solidFill>
                <a:latin typeface="Calibri"/>
              </a:rPr>
              <a:t>✅ Correct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4320" y="5276088"/>
            <a:ext cx="288036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0040" y="532180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passport_DEU_fake.png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00400" y="5276088"/>
            <a:ext cx="1234439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246120" y="5321808"/>
            <a:ext cx="1188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C2626"/>
                </a:solidFill>
                <a:latin typeface="Calibri"/>
              </a:rPr>
              <a:t>REJETÉ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80560" y="5276088"/>
            <a:ext cx="141732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26280" y="53218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PASSEPORT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943600" y="5276088"/>
            <a:ext cx="114300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989320" y="532180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66%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32320" y="5276088"/>
            <a:ext cx="105156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78040" y="5321808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27%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229600" y="5276088"/>
            <a:ext cx="1325880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275320" y="53218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6A34A"/>
                </a:solidFill>
                <a:latin typeface="Calibri"/>
              </a:rPr>
              <a:t>✅ Correct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4320" y="5897880"/>
            <a:ext cx="11612880" cy="5029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57200" y="594360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Accuracy : 85.7%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743200" y="594360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Precision : 100%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29200" y="594360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500"/>
                </a:solidFill>
                <a:latin typeface="Calibri"/>
              </a:rPr>
              <a:t>Recall : 75%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315200" y="594360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F1 : 85.7%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601200" y="594360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Faux positifs : 0%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AFE"/>
                </a:solidFill>
                <a:latin typeface="Calibri"/>
              </a:rPr>
              <a:t>Ben Ghorbel Thara — PFE TOPNET 2026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9500"/>
                </a:solidFill>
                <a:latin typeface="Calibri"/>
              </a:rPr>
              <a:t>TOPNET OCR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Difficultés rencontrées &amp;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5669280" cy="41148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4630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  <a:latin typeface="Calibri"/>
              </a:rPr>
              <a:t>⏱️  Performance 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DC2626"/>
                </a:solidFill>
                <a:latin typeface="Calibri"/>
              </a:rPr>
              <a:t>❌ VLM Qwen2.5vl : 60-180s/image sans GPU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2468880"/>
            <a:ext cx="45720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569E"/>
                </a:solidFill>
                <a:latin typeface="Calibri"/>
              </a:rPr>
              <a:t>✅ Fast-path : skip VLM si OCR+CLIP confiants → -30-40% de temps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669280" cy="41148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14630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  <a:latin typeface="Calibri"/>
              </a:rPr>
              <a:t>🔤  OCR arabe bilingues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79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DC2626"/>
                </a:solidFill>
                <a:latin typeface="Calibri"/>
              </a:rPr>
              <a:t>❌ CIN : texte arabe + français simultané difficile à extraire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79" y="2468880"/>
            <a:ext cx="45720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569E"/>
                </a:solidFill>
                <a:latin typeface="Calibri"/>
              </a:rPr>
              <a:t>✅ PaddleOCR + EasyOCR en parallèle + fusion des résultats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9476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794760"/>
            <a:ext cx="5669280" cy="41148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8404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  <a:latin typeface="Calibri"/>
              </a:rPr>
              <a:t>📄  Faux PDF numériques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42976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DC2626"/>
                </a:solidFill>
                <a:latin typeface="Calibri"/>
              </a:rPr>
              <a:t>❌ Un PDF bien forgé a le même profil ELA qu'un vrai PDF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79" y="4846320"/>
            <a:ext cx="45720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569E"/>
                </a:solidFill>
                <a:latin typeface="Calibri"/>
              </a:rPr>
              <a:t>✅ Limite documentée — nécessite validation BDD TOPNET (phase 2)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79476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794760"/>
            <a:ext cx="5669280" cy="41148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79" y="38404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  <a:latin typeface="Calibri"/>
              </a:rPr>
              <a:t>🔄  Angular change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79" y="42976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DC2626"/>
                </a:solidFill>
                <a:latin typeface="Calibri"/>
              </a:rPr>
              <a:t>❌ Timer et résultats ne s'affichaient pas (hors NgZone)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79" y="4846320"/>
            <a:ext cx="45720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846320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569E"/>
                </a:solidFill>
                <a:latin typeface="Calibri"/>
              </a:rPr>
              <a:t>✅ NgZone.run() + ChangeDetectorRef.detectChanges() appliqués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AFE"/>
                </a:solidFill>
                <a:latin typeface="Calibri"/>
              </a:rPr>
              <a:t>Ben Ghorbel Thara — PFE TOPNET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9500"/>
                </a:solidFill>
                <a:latin typeface="Calibri"/>
              </a:rPr>
              <a:t>TOPNET OCR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0"/>
            <a:ext cx="12188952" cy="6400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 &amp; Perspectives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412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9500"/>
                </a:solidFill>
                <a:latin typeface="Calibri"/>
              </a:rPr>
              <a:t>Phase 1 complète — Pipeline IA opérationnel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303520" cy="16459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530352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3619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69E"/>
                </a:solidFill>
                <a:latin typeface="Calibri"/>
              </a:rPr>
              <a:t>✅  Objectifs Phase 1 atteints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84248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Pipeline IA 7 étapes fonctionnel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16A34A"/>
                </a:solidFill>
                <a:latin typeface="Calibri"/>
              </a:rPr>
              <a:t>Précision 100% — 0% faux positifs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Interface web complète et opérationnelle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5577840" cy="16459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5577840" cy="3840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3619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69E"/>
                </a:solidFill>
                <a:latin typeface="Calibri"/>
              </a:rPr>
              <a:t>📚  Compétences acquises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84248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Computer Vision : CLIP, VLM, ELA, OCR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MLOps : métriques, tuning, évaluation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Full-stack : FastAPI + Angular + BDD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37560"/>
            <a:ext cx="11338560" cy="23317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337560"/>
            <a:ext cx="11338560" cy="384048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64992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69E"/>
                </a:solidFill>
                <a:latin typeface="Calibri"/>
              </a:rPr>
              <a:t>🚀  Perspectives 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2219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  <a:latin typeface="Calibri"/>
              </a:rPr>
              <a:t>PostgreSQL + ETL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879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AFE"/>
                </a:solidFill>
                <a:latin typeface="Calibri"/>
              </a:rPr>
              <a:t>Données structurées pour analytique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79" y="382219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  <a:latin typeface="Calibri"/>
              </a:rPr>
              <a:t>Power BI Dashboards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79" y="41879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AFE"/>
                </a:solidFill>
                <a:latin typeface="Calibri"/>
              </a:rPr>
              <a:t>KPIs temps réel pour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82219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  <a:latin typeface="Calibri"/>
              </a:rPr>
              <a:t>Fine-tuning CLIP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1879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AFE"/>
                </a:solidFill>
                <a:latin typeface="Calibri"/>
              </a:rPr>
              <a:t>MIDV-500 → meilleure précision passeport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19" y="382219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  <a:latin typeface="Calibri"/>
              </a:rPr>
              <a:t>Docker + GPU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19" y="41879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AFE"/>
                </a:solidFill>
                <a:latin typeface="Calibri"/>
              </a:rPr>
              <a:t>Temps 121s → ~8s en production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97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Merci pour votre attention — Questions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BEAFE"/>
                </a:solidFill>
                <a:latin typeface="Calibri"/>
              </a:rPr>
              <a:t>Ben Ghorbel Thara — PFE TOPNET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6510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9500"/>
                </a:solidFill>
                <a:latin typeface="Calibri"/>
              </a:rPr>
              <a:t>TOPNET OCR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